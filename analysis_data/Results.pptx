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2" r:id="rId3"/>
    <p:sldId id="257" r:id="rId4"/>
    <p:sldId id="256" r:id="rId5"/>
    <p:sldId id="258" r:id="rId6"/>
    <p:sldId id="260" r:id="rId7"/>
    <p:sldId id="263" r:id="rId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1D720-BC3F-A7EE-1EC3-D1A6731FF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EA10A7-187F-16BF-26B1-974ECB4F3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D5500-84A6-4A02-32A9-432C6463C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C1108-B2D7-9D07-5519-67A21200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6ED5-F6BB-BAA5-BD25-F36107B1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582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DF4FB-EDFD-A42E-D4E3-BD9D06839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F2E53-6695-BFD3-EF76-E65160C90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43F1D-4362-AF29-7320-DD634F3FC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D1262-20E6-106B-7D60-4C21732D1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D868B-7DE1-4BD1-9B19-3CB7FD67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37247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F1E93-8AFD-DC57-FD44-3BA804CC9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61FA0-1043-8067-3960-F2F897A1B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89D24-EDAB-B58C-CCAA-CF1E6E416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DFF07-C14B-D4C7-82B3-0A1157595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7D0E9-F907-DE00-CF97-4DCF95509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99924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CE24C-A9D4-7889-920A-119FFD427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EF4E7-2033-49D7-C529-96BB5401C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F8F4BB-1E24-AF3A-CB88-EE4B0FBE1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6939B-A984-2898-44D8-3FEB7715E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55CB2-40EE-1464-148C-9C2F5BB4E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2E47F-62DC-BEB9-0972-37410980C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7007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D281C-FBFD-6FFD-1720-12AE2D452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E705A-767F-34B1-FFC5-FC6C45950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DD385-3A9A-B87D-2840-77D7D35C0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2B67-612F-7ED8-28FE-1610B0A60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B04E1-3D24-CB5A-3D2D-6C8987BD8D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87ABC5-5A99-E8D0-AFC5-E7D8EA669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29DE4-949A-7815-A53E-9AE14A720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00529A-1858-0C41-ADD5-8E11CAB81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6157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154B9-EA44-3EE9-035C-757E95E89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41747-4F6E-6A3C-38DE-07AC79F80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B38B6-5D98-835C-4E43-81825380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294E3-9429-243A-93BE-FBD981E9F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6753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5384B-ABEF-ABE8-79FE-BDF8B2871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A7EB1-DD64-C427-BC30-1477313E8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63F18-991D-939A-C173-FA83E10AD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7364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EAF91-F5BF-74BD-98F2-5D6CF0139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1627B-C4AC-C379-19CD-D521226FC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86168-AB21-812E-E397-3C2CCEE6B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37922-6117-A41D-7BAF-E79F371B9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14557-38A3-32EA-F482-3D0C357FF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0AB4C-5082-613A-9263-E5C440BCF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502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06280-9FD8-3868-CB4C-98D0D28E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EF3984-CEE3-A21B-F909-C3B6D18547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C4C97-C87F-AA34-1582-B2F5ADA09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53078-D107-9C7A-9B45-959CE3EB8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C4E32-F34C-0021-8821-BCB63BC3E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404D8-EAFF-65A4-756A-0AFA6DA93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18326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95243-37FE-C830-926C-0FB684E3C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113CE3-F970-B701-11D3-F8ED8F81F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4752C-0C2D-BC88-181D-65212780F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A5F1F-86EF-A9EC-CD94-9B856CF32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4E4A9-0063-A3D0-8913-A6898E3F8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055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F049B2-CEA5-6DD7-A6BB-771270E7DE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52FB00-2CD2-CE96-BE3C-04F7C91D1D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3D5B5-14F5-3D88-7582-BF0B9519D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0BF0E-726C-8064-47BC-79B3F468F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A5A13-5DA3-2061-781B-3BDA58C9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626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C00E18-BB3E-BA4C-A39E-715E8E4B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EFC45-FA0D-0C15-94C3-08DE490B9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1B26E-949B-5917-012A-D1AB8EF14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8A44B-ED98-4C4F-858A-0C7247F5ECCE}" type="datetimeFigureOut">
              <a:rPr lang="nl-NL" smtClean="0"/>
              <a:t>18-1-2026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87FBB-EE68-EA9D-89B1-FDFF5D9762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AD3B3-E1BB-0560-8ADC-492C0D457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0647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D849A-3323-5CA4-6C56-B9A636EE0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104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When all costs are the same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68949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AE314-5ABF-836C-111D-F332EA8A5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F3D1D-B51D-36E5-F64A-F4FB37ECF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6253170"/>
            <a:ext cx="10824319" cy="44019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Installed capacity: capacity mix differs across both NTC &amp; FBMC designs</a:t>
            </a:r>
            <a:endParaRPr lang="nl-NL" dirty="0"/>
          </a:p>
        </p:txBody>
      </p:sp>
      <p:pic>
        <p:nvPicPr>
          <p:cNvPr id="4" name="Picture 3" descr="A graph of different sizes of bars&#10;&#10;AI-generated content may be incorrect.">
            <a:extLst>
              <a:ext uri="{FF2B5EF4-FFF2-40B4-BE49-F238E27FC236}">
                <a16:creationId xmlns:a16="http://schemas.microsoft.com/office/drawing/2014/main" id="{C157E5D8-4F05-455F-54B8-331423B5C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14" y="283890"/>
            <a:ext cx="11070771" cy="559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073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55D45-3984-390C-8D71-E603058E0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744" y="6198306"/>
            <a:ext cx="10281775" cy="44019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Trade of cross-border capacity obligations: FBMC unlocks more trade</a:t>
            </a:r>
            <a:endParaRPr lang="nl-NL" dirty="0"/>
          </a:p>
        </p:txBody>
      </p:sp>
      <p:pic>
        <p:nvPicPr>
          <p:cNvPr id="5" name="Picture 4" descr="A graph with squares and numbers&#10;&#10;AI-generated content may be incorrect.">
            <a:extLst>
              <a:ext uri="{FF2B5EF4-FFF2-40B4-BE49-F238E27FC236}">
                <a16:creationId xmlns:a16="http://schemas.microsoft.com/office/drawing/2014/main" id="{1ED01C93-C6F3-9188-6988-D62DA12A2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88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92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AD2EEB5-F5B4-4BDA-8293-9A997C129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827285" y="5121601"/>
            <a:ext cx="0" cy="91440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C5C94442-B17C-6E70-8C99-0F88A6D4C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9" y="161705"/>
            <a:ext cx="12192000" cy="5874296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B974838-2B6F-8D90-6210-14650B86D1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11" y="6046106"/>
            <a:ext cx="11416504" cy="660294"/>
          </a:xfrm>
          <a:noFill/>
        </p:spPr>
        <p:txBody>
          <a:bodyPr anchor="ctr">
            <a:normAutofit fontScale="92500" lnSpcReduction="10000"/>
          </a:bodyPr>
          <a:lstStyle/>
          <a:p>
            <a:pPr algn="l"/>
            <a:r>
              <a:rPr lang="en-US" dirty="0"/>
              <a:t>Cost to consumers: costs remain the same across FBMC and NTC because investment and operational costs are the same across the system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2702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C5D35F-015B-EE2A-4206-44A2150E9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3C0F5F-9CB0-B382-559A-98064620E5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4904" y="5586258"/>
            <a:ext cx="3588895" cy="804160"/>
          </a:xfrm>
        </p:spPr>
        <p:txBody>
          <a:bodyPr anchor="ctr">
            <a:normAutofit/>
          </a:bodyPr>
          <a:lstStyle/>
          <a:p>
            <a:pPr algn="r"/>
            <a:endParaRPr lang="nl-NL" sz="1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8E9C0FC-F29B-649B-1778-C0208E102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51935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22C3804-AAF2-8F89-378B-B9C8A7E4F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77666D6-7C1C-D66F-C4C6-708BEA8FF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 descr="A graph of a number of bars&#10;&#10;AI-generated content may be incorrect.">
            <a:extLst>
              <a:ext uri="{FF2B5EF4-FFF2-40B4-BE49-F238E27FC236}">
                <a16:creationId xmlns:a16="http://schemas.microsoft.com/office/drawing/2014/main" id="{85C39101-867A-6260-305E-AF7104EA4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68" y="0"/>
            <a:ext cx="11713030" cy="6541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2912CA-A241-3C64-DB97-5297B88DD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1310" y="1792598"/>
            <a:ext cx="7735802" cy="804161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sz="3200" dirty="0"/>
              <a:t>System costs: same for both FBMC and NTC since costs are the same across zones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2000329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8BB92-6E55-A158-AA47-74614603F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C07CA-6E49-3600-4A21-C1B8D090A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1631886"/>
            <a:ext cx="11113008" cy="359422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Installed capacity differs across zones, with FBMC capturing more trade. However, since costs are the same across zones, it does not lead to a reduced cost. If costs were to differ across zones, then, the cross-border trade will lead to lower consumer costs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21890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449D0-6866-447D-8232-865D86112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DC122-5263-0A87-E6A5-529310AD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104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When all costs differ across zones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25131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123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When all costs are the same</vt:lpstr>
      <vt:lpstr>PowerPoint Presentation</vt:lpstr>
      <vt:lpstr>PowerPoint Presentation</vt:lpstr>
      <vt:lpstr>PowerPoint Presentation</vt:lpstr>
      <vt:lpstr>System costs: same for both FBMC and NTC since costs are the same across zones</vt:lpstr>
      <vt:lpstr>Installed capacity differs across zones, with FBMC capturing more trade. However, since costs are the same across zones, it does not lead to a reduced cost. If costs were to differ across zones, then, the cross-border trade will lead to lower consumer costs</vt:lpstr>
      <vt:lpstr>When all costs differ across zones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Kamaldeen Adekola</dc:creator>
  <cp:lastModifiedBy>Kamaldeen Adekola</cp:lastModifiedBy>
  <cp:revision>3</cp:revision>
  <dcterms:created xsi:type="dcterms:W3CDTF">2026-01-18T11:39:24Z</dcterms:created>
  <dcterms:modified xsi:type="dcterms:W3CDTF">2026-01-18T12:04:18Z</dcterms:modified>
</cp:coreProperties>
</file>