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63" r:id="rId2"/>
    <p:sldId id="262" r:id="rId3"/>
    <p:sldId id="257" r:id="rId4"/>
    <p:sldId id="264" r:id="rId5"/>
    <p:sldId id="256" r:id="rId6"/>
    <p:sldId id="258" r:id="rId7"/>
    <p:sldId id="266" r:id="rId8"/>
    <p:sldId id="260" r:id="rId9"/>
    <p:sldId id="265" r:id="rId10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9709" autoAdjust="0"/>
  </p:normalViewPr>
  <p:slideViewPr>
    <p:cSldViewPr snapToGrid="0">
      <p:cViewPr varScale="1">
        <p:scale>
          <a:sx n="66" d="100"/>
          <a:sy n="66" d="100"/>
        </p:scale>
        <p:origin x="64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322A1A-048E-4317-9FBA-D081DB5FE75A}" type="datetimeFigureOut">
              <a:rPr lang="nl-NL" smtClean="0"/>
              <a:t>27-1-2026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455716-F041-4BE2-A87B-FB5C9851D85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795037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Assess peak demand served</a:t>
            </a:r>
          </a:p>
          <a:p>
            <a:r>
              <a:rPr lang="en-US" dirty="0"/>
              <a:t>Does the locational difference in investment impact the demand served?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455716-F041-4BE2-A87B-FB5C9851D850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039540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Convert to euros/MWh</a:t>
            </a:r>
          </a:p>
          <a:p>
            <a:pPr marL="171450" indent="-171450">
              <a:buFontTx/>
              <a:buChar char="-"/>
            </a:pPr>
            <a:r>
              <a:rPr lang="en-US" dirty="0"/>
              <a:t>Price differentials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flow component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455716-F041-4BE2-A87B-FB5C9851D850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634283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1D720-BC3F-A7EE-1EC3-D1A6731FFA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EA10A7-187F-16BF-26B1-974ECB4F3F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9D5500-84A6-4A02-32A9-432C6463C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A44B-ED98-4C4F-858A-0C7247F5ECCE}" type="datetimeFigureOut">
              <a:rPr lang="nl-NL" smtClean="0"/>
              <a:t>27-1-2026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EC1108-B2D7-9D07-5519-67A212001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9D6ED5-F6BB-BAA5-BD25-F36107B13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5826B-E573-412C-822C-E7197BC78C2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9582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DF4FB-EDFD-A42E-D4E3-BD9D06839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8F2E53-6695-BFD3-EF76-E65160C90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243F1D-4362-AF29-7320-DD634F3FC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A44B-ED98-4C4F-858A-0C7247F5ECCE}" type="datetimeFigureOut">
              <a:rPr lang="nl-NL" smtClean="0"/>
              <a:t>27-1-2026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ED1262-20E6-106B-7D60-4C21732D16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CD868B-7DE1-4BD1-9B19-3CB7FD675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5826B-E573-412C-822C-E7197BC78C2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372477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F1E93-8AFD-DC57-FD44-3BA804CC9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161FA0-1043-8067-3960-F2F897A1B0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689D24-EDAB-B58C-CCAA-CF1E6E416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A44B-ED98-4C4F-858A-0C7247F5ECCE}" type="datetimeFigureOut">
              <a:rPr lang="nl-NL" smtClean="0"/>
              <a:t>27-1-2026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6DFF07-C14B-D4C7-82B3-0A11575958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97D0E9-F907-DE00-CF97-4DCF95509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5826B-E573-412C-822C-E7197BC78C2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999248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CE24C-A9D4-7889-920A-119FFD427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EF4E7-2033-49D7-C529-96BB5401C8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F8F4BB-1E24-AF3A-CB88-EE4B0FBE1C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26939B-A984-2898-44D8-3FEB7715EF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A44B-ED98-4C4F-858A-0C7247F5ECCE}" type="datetimeFigureOut">
              <a:rPr lang="nl-NL" smtClean="0"/>
              <a:t>27-1-2026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455CB2-40EE-1464-148C-9C2F5BB4E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B2E47F-62DC-BEB9-0972-37410980C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5826B-E573-412C-822C-E7197BC78C2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77007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D281C-FBFD-6FFD-1720-12AE2D452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9E705A-767F-34B1-FFC5-FC6C45950A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DD385-3A9A-B87D-2840-77D7D35C0F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142B67-612F-7ED8-28FE-1610B0A60E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BB04E1-3D24-CB5A-3D2D-6C8987BD8D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87ABC5-5A99-E8D0-AFC5-E7D8EA669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A44B-ED98-4C4F-858A-0C7247F5ECCE}" type="datetimeFigureOut">
              <a:rPr lang="nl-NL" smtClean="0"/>
              <a:t>27-1-2026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029DE4-949A-7815-A53E-9AE14A720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00529A-1858-0C41-ADD5-8E11CAB81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5826B-E573-412C-822C-E7197BC78C2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561574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154B9-EA44-3EE9-035C-757E95E89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641747-4F6E-6A3C-38DE-07AC79F80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A44B-ED98-4C4F-858A-0C7247F5ECCE}" type="datetimeFigureOut">
              <a:rPr lang="nl-NL" smtClean="0"/>
              <a:t>27-1-2026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3B38B6-5D98-835C-4E43-81825380E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B294E3-9429-243A-93BE-FBD981E9F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5826B-E573-412C-822C-E7197BC78C2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67530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35384B-ABEF-ABE8-79FE-BDF8B2871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A44B-ED98-4C4F-858A-0C7247F5ECCE}" type="datetimeFigureOut">
              <a:rPr lang="nl-NL" smtClean="0"/>
              <a:t>27-1-2026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6A7EB1-DD64-C427-BC30-1477313E8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63F18-991D-939A-C173-FA83E10AD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5826B-E573-412C-822C-E7197BC78C2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87364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EAF91-F5BF-74BD-98F2-5D6CF0139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E1627B-C4AC-C379-19CD-D521226FC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D86168-AB21-812E-E397-3C2CCEE6BF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037922-6117-A41D-7BAF-E79F371B9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A44B-ED98-4C4F-858A-0C7247F5ECCE}" type="datetimeFigureOut">
              <a:rPr lang="nl-NL" smtClean="0"/>
              <a:t>27-1-2026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314557-38A3-32EA-F482-3D0C357FF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C0AB4C-5082-613A-9263-E5C440BCF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5826B-E573-412C-822C-E7197BC78C2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35022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06280-9FD8-3868-CB4C-98D0D28E2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EF3984-CEE3-A21B-F909-C3B6D18547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2C4C97-C87F-AA34-1582-B2F5ADA094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E53078-D107-9C7A-9B45-959CE3EB8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A44B-ED98-4C4F-858A-0C7247F5ECCE}" type="datetimeFigureOut">
              <a:rPr lang="nl-NL" smtClean="0"/>
              <a:t>27-1-2026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4C4E32-F34C-0021-8821-BCB63BC3EC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3404D8-EAFF-65A4-756A-0AFA6DA93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5826B-E573-412C-822C-E7197BC78C2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183268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95243-37FE-C830-926C-0FB684E3C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113CE3-F970-B701-11D3-F8ED8F81F6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B4752C-0C2D-BC88-181D-65212780F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A44B-ED98-4C4F-858A-0C7247F5ECCE}" type="datetimeFigureOut">
              <a:rPr lang="nl-NL" smtClean="0"/>
              <a:t>27-1-2026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A5F1F-86EF-A9EC-CD94-9B856CF324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94E4A9-0063-A3D0-8913-A6898E3F8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5826B-E573-412C-822C-E7197BC78C2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705532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EF049B2-CEA5-6DD7-A6BB-771270E7DE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52FB00-2CD2-CE96-BE3C-04F7C91D1D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83D5B5-14F5-3D88-7582-BF0B9519D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A44B-ED98-4C4F-858A-0C7247F5ECCE}" type="datetimeFigureOut">
              <a:rPr lang="nl-NL" smtClean="0"/>
              <a:t>27-1-2026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A0BF0E-726C-8064-47BC-79B3F468F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FA5A13-5DA3-2061-781B-3BDA58C90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5826B-E573-412C-822C-E7197BC78C2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662656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C00E18-BB3E-BA4C-A39E-715E8E4B7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AEFC45-FA0D-0C15-94C3-08DE490B92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B1B26E-949B-5917-012A-D1AB8EF143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A8A44B-ED98-4C4F-858A-0C7247F5ECCE}" type="datetimeFigureOut">
              <a:rPr lang="nl-NL" smtClean="0"/>
              <a:t>27-1-2026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487FBB-EE68-EA9D-89B1-FDFF5D9762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9AD3B3-E1BB-0560-8ADC-492C0D4577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F5826B-E573-412C-822C-E7197BC78C2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20647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449D0-6866-447D-8232-865D86112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DC122-5263-0A87-E6A5-529310AD7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1104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When investment costs of peak unit differ across zones</a:t>
            </a:r>
            <a:endParaRPr lang="nl-NL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F3B06F-262D-1A5F-F4DA-D16A64FC2F0B}"/>
              </a:ext>
            </a:extLst>
          </p:cNvPr>
          <p:cNvSpPr txBox="1"/>
          <p:nvPr/>
        </p:nvSpPr>
        <p:spPr>
          <a:xfrm>
            <a:off x="235218" y="4642120"/>
            <a:ext cx="200939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Zone A: 60k€/MW</a:t>
            </a:r>
          </a:p>
          <a:p>
            <a:r>
              <a:rPr lang="en-US" dirty="0"/>
              <a:t>Zone B: 70k€/MW</a:t>
            </a:r>
          </a:p>
          <a:p>
            <a:r>
              <a:rPr lang="en-US" dirty="0"/>
              <a:t>Zone C: 80k€/MW</a:t>
            </a:r>
          </a:p>
          <a:p>
            <a:endParaRPr lang="nl-NL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773A38-FF4B-6595-9AC4-A645FCAFB365}"/>
              </a:ext>
            </a:extLst>
          </p:cNvPr>
          <p:cNvSpPr txBox="1"/>
          <p:nvPr/>
        </p:nvSpPr>
        <p:spPr>
          <a:xfrm>
            <a:off x="331470" y="4080456"/>
            <a:ext cx="32918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Previously, All zones had same investment costs</a:t>
            </a:r>
            <a:endParaRPr lang="nl-NL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B39C7F-C1AD-B3E4-7A81-D06C2CDE1801}"/>
              </a:ext>
            </a:extLst>
          </p:cNvPr>
          <p:cNvSpPr txBox="1"/>
          <p:nvPr/>
        </p:nvSpPr>
        <p:spPr>
          <a:xfrm>
            <a:off x="5049774" y="4403622"/>
            <a:ext cx="5267706" cy="1363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pt-BR" b="0" i="1" dirty="0">
                <a:solidFill>
                  <a:srgbClr val="FF3F4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pt-BR" b="0" dirty="0">
                <a:solidFill>
                  <a:srgbClr val="F8F8F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b="0" dirty="0">
                <a:effectLst/>
                <a:latin typeface="Consolas" panose="020B0609020204030204" pitchFamily="49" charset="0"/>
              </a:rPr>
              <a:t>BRANCHES</a:t>
            </a:r>
            <a:r>
              <a:rPr lang="pt-BR" b="0" dirty="0">
                <a:solidFill>
                  <a:srgbClr val="F8F8F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b="0" dirty="0">
                <a:solidFill>
                  <a:srgbClr val="FF3F4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pt-BR" b="0" dirty="0">
                <a:solidFill>
                  <a:srgbClr val="F8F8F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b="0" dirty="0">
                <a:solidFill>
                  <a:srgbClr val="FF8F3F"/>
                </a:solidFill>
                <a:effectLst/>
                <a:latin typeface="Consolas" panose="020B0609020204030204" pitchFamily="49" charset="0"/>
              </a:rPr>
              <a:t>[</a:t>
            </a:r>
          </a:p>
          <a:p>
            <a:pPr>
              <a:lnSpc>
                <a:spcPts val="1425"/>
              </a:lnSpc>
              <a:buNone/>
            </a:pPr>
            <a:endParaRPr lang="pt-BR" b="0" dirty="0">
              <a:solidFill>
                <a:srgbClr val="F8F8F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pt-BR" b="0" dirty="0">
                <a:solidFill>
                  <a:srgbClr val="F8F8F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b="0" dirty="0">
                <a:solidFill>
                  <a:srgbClr val="FF8F3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b="0" dirty="0">
                <a:solidFill>
                  <a:srgbClr val="FD5FF0"/>
                </a:solidFill>
                <a:effectLst/>
                <a:latin typeface="Consolas" panose="020B0609020204030204" pitchFamily="49" charset="0"/>
              </a:rPr>
              <a:t>:n1</a:t>
            </a:r>
            <a:r>
              <a:rPr lang="pt-BR" b="0" dirty="0">
                <a:solidFill>
                  <a:srgbClr val="F8F8F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pt-BR" b="0" dirty="0">
                <a:solidFill>
                  <a:srgbClr val="FD5FF0"/>
                </a:solidFill>
                <a:effectLst/>
                <a:latin typeface="Consolas" panose="020B0609020204030204" pitchFamily="49" charset="0"/>
              </a:rPr>
              <a:t>:n2</a:t>
            </a:r>
            <a:r>
              <a:rPr lang="pt-BR" b="0" dirty="0">
                <a:solidFill>
                  <a:srgbClr val="F8F8F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pt-BR" b="0" dirty="0">
                <a:solidFill>
                  <a:srgbClr val="00AAFF"/>
                </a:solidFill>
                <a:effectLst/>
                <a:latin typeface="Consolas" panose="020B0609020204030204" pitchFamily="49" charset="0"/>
              </a:rPr>
              <a:t>500.0</a:t>
            </a:r>
            <a:r>
              <a:rPr lang="pt-BR" b="0" dirty="0">
                <a:solidFill>
                  <a:srgbClr val="FF8F3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pt-BR" b="0" dirty="0">
                <a:solidFill>
                  <a:srgbClr val="F8F8F0"/>
                </a:solidFill>
                <a:effectLst/>
                <a:latin typeface="Consolas" panose="020B0609020204030204" pitchFamily="49" charset="0"/>
              </a:rPr>
              <a:t>,   </a:t>
            </a:r>
            <a:r>
              <a:rPr lang="pt-BR" b="0" i="1" dirty="0">
                <a:solidFill>
                  <a:srgbClr val="5C6370"/>
                </a:solidFill>
                <a:effectLst/>
                <a:latin typeface="Consolas" panose="020B0609020204030204" pitchFamily="49" charset="0"/>
              </a:rPr>
              <a:t># ℓ₁₂   (A–A)</a:t>
            </a:r>
            <a:endParaRPr lang="pt-BR" b="0" dirty="0">
              <a:solidFill>
                <a:srgbClr val="F8F8F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pt-BR" b="0" dirty="0">
                <a:solidFill>
                  <a:srgbClr val="F8F8F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b="0" dirty="0">
                <a:solidFill>
                  <a:srgbClr val="FF8F3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b="0" dirty="0">
                <a:solidFill>
                  <a:srgbClr val="FD5FF0"/>
                </a:solidFill>
                <a:effectLst/>
                <a:latin typeface="Consolas" panose="020B0609020204030204" pitchFamily="49" charset="0"/>
              </a:rPr>
              <a:t>:n2</a:t>
            </a:r>
            <a:r>
              <a:rPr lang="pt-BR" b="0" dirty="0">
                <a:solidFill>
                  <a:srgbClr val="F8F8F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pt-BR" b="0" dirty="0">
                <a:solidFill>
                  <a:srgbClr val="FD5FF0"/>
                </a:solidFill>
                <a:effectLst/>
                <a:latin typeface="Consolas" panose="020B0609020204030204" pitchFamily="49" charset="0"/>
              </a:rPr>
              <a:t>:n4</a:t>
            </a:r>
            <a:r>
              <a:rPr lang="pt-BR" b="0" dirty="0">
                <a:solidFill>
                  <a:srgbClr val="F8F8F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pt-BR" b="0" dirty="0">
                <a:solidFill>
                  <a:srgbClr val="00AAFF"/>
                </a:solidFill>
                <a:effectLst/>
                <a:latin typeface="Consolas" panose="020B0609020204030204" pitchFamily="49" charset="0"/>
              </a:rPr>
              <a:t>3000.0</a:t>
            </a:r>
            <a:r>
              <a:rPr lang="pt-BR" b="0" dirty="0">
                <a:solidFill>
                  <a:srgbClr val="FF8F3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pt-BR" b="0" dirty="0">
                <a:solidFill>
                  <a:srgbClr val="F8F8F0"/>
                </a:solidFill>
                <a:effectLst/>
                <a:latin typeface="Consolas" panose="020B0609020204030204" pitchFamily="49" charset="0"/>
              </a:rPr>
              <a:t>,   </a:t>
            </a:r>
            <a:r>
              <a:rPr lang="pt-BR" b="0" i="1" dirty="0">
                <a:solidFill>
                  <a:srgbClr val="5C6370"/>
                </a:solidFill>
                <a:effectLst/>
                <a:latin typeface="Consolas" panose="020B0609020204030204" pitchFamily="49" charset="0"/>
              </a:rPr>
              <a:t># ℓ₂₄   (A–C)</a:t>
            </a:r>
            <a:endParaRPr lang="pt-BR" b="0" dirty="0">
              <a:solidFill>
                <a:srgbClr val="F8F8F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pt-BR" b="0" dirty="0">
                <a:solidFill>
                  <a:srgbClr val="F8F8F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b="0" dirty="0">
                <a:solidFill>
                  <a:srgbClr val="FF8F3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b="0" dirty="0">
                <a:solidFill>
                  <a:srgbClr val="FD5FF0"/>
                </a:solidFill>
                <a:effectLst/>
                <a:latin typeface="Consolas" panose="020B0609020204030204" pitchFamily="49" charset="0"/>
              </a:rPr>
              <a:t>:n4</a:t>
            </a:r>
            <a:r>
              <a:rPr lang="pt-BR" b="0" dirty="0">
                <a:solidFill>
                  <a:srgbClr val="F8F8F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pt-BR" b="0" dirty="0">
                <a:solidFill>
                  <a:srgbClr val="FD5FF0"/>
                </a:solidFill>
                <a:effectLst/>
                <a:latin typeface="Consolas" panose="020B0609020204030204" pitchFamily="49" charset="0"/>
              </a:rPr>
              <a:t>:n3</a:t>
            </a:r>
            <a:r>
              <a:rPr lang="pt-BR" b="0" dirty="0">
                <a:solidFill>
                  <a:srgbClr val="F8F8F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pt-BR" b="0" dirty="0">
                <a:solidFill>
                  <a:srgbClr val="00AAFF"/>
                </a:solidFill>
                <a:effectLst/>
                <a:latin typeface="Consolas" panose="020B0609020204030204" pitchFamily="49" charset="0"/>
              </a:rPr>
              <a:t>3000.0</a:t>
            </a:r>
            <a:r>
              <a:rPr lang="pt-BR" b="0" dirty="0">
                <a:solidFill>
                  <a:srgbClr val="FF8F3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pt-BR" b="0" dirty="0">
                <a:solidFill>
                  <a:srgbClr val="F8F8F0"/>
                </a:solidFill>
                <a:effectLst/>
                <a:latin typeface="Consolas" panose="020B0609020204030204" pitchFamily="49" charset="0"/>
              </a:rPr>
              <a:t>,   </a:t>
            </a:r>
            <a:r>
              <a:rPr lang="pt-BR" b="0" i="1" dirty="0">
                <a:solidFill>
                  <a:srgbClr val="5C6370"/>
                </a:solidFill>
                <a:effectLst/>
                <a:latin typeface="Consolas" panose="020B0609020204030204" pitchFamily="49" charset="0"/>
              </a:rPr>
              <a:t># ℓ₄₃   (C–B)</a:t>
            </a:r>
            <a:endParaRPr lang="pt-BR" b="0" dirty="0">
              <a:solidFill>
                <a:srgbClr val="F8F8F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pt-BR" b="0" dirty="0">
                <a:solidFill>
                  <a:srgbClr val="F8F8F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b="0" dirty="0">
                <a:solidFill>
                  <a:srgbClr val="FF8F3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b="0" dirty="0">
                <a:solidFill>
                  <a:srgbClr val="FD5FF0"/>
                </a:solidFill>
                <a:effectLst/>
                <a:latin typeface="Consolas" panose="020B0609020204030204" pitchFamily="49" charset="0"/>
              </a:rPr>
              <a:t>:n3</a:t>
            </a:r>
            <a:r>
              <a:rPr lang="pt-BR" b="0" dirty="0">
                <a:solidFill>
                  <a:srgbClr val="F8F8F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pt-BR" b="0" dirty="0">
                <a:solidFill>
                  <a:srgbClr val="FD5FF0"/>
                </a:solidFill>
                <a:effectLst/>
                <a:latin typeface="Consolas" panose="020B0609020204030204" pitchFamily="49" charset="0"/>
              </a:rPr>
              <a:t>:n1</a:t>
            </a:r>
            <a:r>
              <a:rPr lang="pt-BR" b="0" dirty="0">
                <a:solidFill>
                  <a:srgbClr val="F8F8F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pt-BR" b="0" dirty="0">
                <a:solidFill>
                  <a:srgbClr val="00AAFF"/>
                </a:solidFill>
                <a:effectLst/>
                <a:latin typeface="Consolas" panose="020B0609020204030204" pitchFamily="49" charset="0"/>
              </a:rPr>
              <a:t>3000.0</a:t>
            </a:r>
            <a:r>
              <a:rPr lang="pt-BR" b="0" dirty="0">
                <a:solidFill>
                  <a:srgbClr val="FF8F3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pt-BR" b="0" dirty="0">
                <a:solidFill>
                  <a:srgbClr val="F8F8F0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pt-BR" b="0" i="1" dirty="0">
                <a:solidFill>
                  <a:srgbClr val="5C6370"/>
                </a:solidFill>
                <a:effectLst/>
                <a:latin typeface="Consolas" panose="020B0609020204030204" pitchFamily="49" charset="0"/>
              </a:rPr>
              <a:t># ℓ₃₁   (B–A)</a:t>
            </a:r>
            <a:endParaRPr lang="pt-BR" b="0" dirty="0">
              <a:solidFill>
                <a:srgbClr val="F8F8F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pt-BR" b="0" dirty="0">
                <a:solidFill>
                  <a:srgbClr val="FF8F3F"/>
                </a:solidFill>
                <a:effectLst/>
                <a:latin typeface="Consolas" panose="020B0609020204030204" pitchFamily="49" charset="0"/>
              </a:rPr>
              <a:t>]</a:t>
            </a:r>
            <a:endParaRPr lang="pt-BR" b="0" dirty="0">
              <a:solidFill>
                <a:srgbClr val="F8F8F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586AEE-6F32-7F69-6B7D-7A444B1703B6}"/>
              </a:ext>
            </a:extLst>
          </p:cNvPr>
          <p:cNvSpPr txBox="1"/>
          <p:nvPr/>
        </p:nvSpPr>
        <p:spPr>
          <a:xfrm>
            <a:off x="5049774" y="3685449"/>
            <a:ext cx="46154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dirty="0">
                <a:solidFill>
                  <a:srgbClr val="FF8F3F"/>
                </a:solidFill>
                <a:effectLst/>
                <a:latin typeface="Consolas" panose="020B0609020204030204" pitchFamily="49" charset="0"/>
              </a:rPr>
              <a:t>Previously: (</a:t>
            </a:r>
            <a:r>
              <a:rPr lang="pt-BR" b="0" dirty="0">
                <a:solidFill>
                  <a:srgbClr val="FD5FF0"/>
                </a:solidFill>
                <a:effectLst/>
                <a:latin typeface="Consolas" panose="020B0609020204030204" pitchFamily="49" charset="0"/>
              </a:rPr>
              <a:t>:n1</a:t>
            </a:r>
            <a:r>
              <a:rPr lang="pt-BR" b="0" dirty="0">
                <a:solidFill>
                  <a:srgbClr val="F8F8F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pt-BR" b="0" dirty="0">
                <a:solidFill>
                  <a:srgbClr val="FD5FF0"/>
                </a:solidFill>
                <a:effectLst/>
                <a:latin typeface="Consolas" panose="020B0609020204030204" pitchFamily="49" charset="0"/>
              </a:rPr>
              <a:t>:n2</a:t>
            </a:r>
            <a:r>
              <a:rPr lang="pt-BR" b="0" dirty="0">
                <a:solidFill>
                  <a:srgbClr val="F8F8F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pt-BR" b="0" dirty="0">
                <a:solidFill>
                  <a:srgbClr val="00AAFF"/>
                </a:solidFill>
                <a:effectLst/>
                <a:latin typeface="Consolas" panose="020B0609020204030204" pitchFamily="49" charset="0"/>
              </a:rPr>
              <a:t>2000.0</a:t>
            </a:r>
            <a:r>
              <a:rPr lang="pt-BR" b="0" dirty="0">
                <a:solidFill>
                  <a:srgbClr val="FF8F3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pt-BR" b="0" dirty="0">
                <a:solidFill>
                  <a:srgbClr val="F8F8F0"/>
                </a:solidFill>
                <a:effectLst/>
                <a:latin typeface="Consolas" panose="020B0609020204030204" pitchFamily="49" charset="0"/>
              </a:rPr>
              <a:t>,   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251318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AE314-5ABF-836C-111D-F332EA8A5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F3D1D-B51D-36E5-F64A-F4FB37ECFB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9224" y="6253170"/>
            <a:ext cx="10824319" cy="440192"/>
          </a:xfrm>
        </p:spPr>
        <p:txBody>
          <a:bodyPr>
            <a:normAutofit fontScale="85000" lnSpcReduction="20000"/>
          </a:bodyPr>
          <a:lstStyle/>
          <a:p>
            <a:r>
              <a:rPr lang="en-US" sz="1800" dirty="0"/>
              <a:t>Installed capacity: capacity mix differs across both NTC &amp; FBMC designs.  FBMC directs investments toward the cheaper zone A.</a:t>
            </a:r>
            <a:endParaRPr lang="nl-NL" sz="1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BC3733-77D9-2D4F-CDB7-3401259FED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758" y="339579"/>
            <a:ext cx="10934299" cy="5524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0735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555D45-3984-390C-8D71-E603058E0B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6744" y="6198306"/>
            <a:ext cx="10281775" cy="440192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Trade of cross-border capacity obligations: FBMC unlocks more trade</a:t>
            </a:r>
            <a:endParaRPr lang="nl-NL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6E15B39-F353-941A-2D7D-EDA5B41801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261" y="523478"/>
            <a:ext cx="10281775" cy="4965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9923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6EB84F-0D30-675C-6850-07FB082FC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85271E0-5983-95BC-08C1-FFF3BC17E5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13632" y="5586258"/>
            <a:ext cx="7440167" cy="804160"/>
          </a:xfrm>
        </p:spPr>
        <p:txBody>
          <a:bodyPr anchor="ctr">
            <a:normAutofit/>
          </a:bodyPr>
          <a:lstStyle/>
          <a:p>
            <a:r>
              <a:rPr lang="en-US" sz="1800" dirty="0"/>
              <a:t>The overall capacity price is lower in FBMC than in NTC due to greater cross-border capacity trade.</a:t>
            </a:r>
            <a:endParaRPr lang="nl-NL" sz="18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68A7DB7-705D-1052-2293-363300E7A7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5025" y="5193518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671972D-10B6-F187-F466-9C4D5FB78E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83E23D8-B7D0-A376-89DC-7AE807D386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CC7EB043-6788-5F60-23E8-0BC3720B50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223057" cy="5407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25204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AD2EEB5-F5B4-4BDA-8293-9A997C1299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7827285" y="5121601"/>
            <a:ext cx="0" cy="914400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ubtitle 2">
            <a:extLst>
              <a:ext uri="{FF2B5EF4-FFF2-40B4-BE49-F238E27FC236}">
                <a16:creationId xmlns:a16="http://schemas.microsoft.com/office/drawing/2014/main" id="{0B974838-2B6F-8D90-6210-14650B86D1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511" y="6046106"/>
            <a:ext cx="11416504" cy="660294"/>
          </a:xfrm>
          <a:noFill/>
        </p:spPr>
        <p:txBody>
          <a:bodyPr anchor="ctr">
            <a:normAutofit/>
          </a:bodyPr>
          <a:lstStyle/>
          <a:p>
            <a:pPr algn="l"/>
            <a:r>
              <a:rPr lang="en-US" dirty="0"/>
              <a:t>Cost to consumers: costs remain the same across FBMC and NTC.</a:t>
            </a:r>
            <a:endParaRPr lang="nl-NL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B100FD-EC2A-D1B5-AA9C-346F6B4A53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119" y="432151"/>
            <a:ext cx="11343662" cy="5462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0221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C5D35F-015B-EE2A-4206-44A2150E9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EA9B93B-8CC5-5E94-138A-207F4F1F2F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383"/>
            <a:ext cx="12192000" cy="680923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58E9C0FC-F29B-649B-1778-C0208E1020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5025" y="5193518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22C3804-AAF2-8F89-378B-B9C8A7E4F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77666D6-7C1C-D66F-C4C6-708BEA8FFA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2912CA-A241-3C64-DB97-5297B88DD8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93267" y="3852588"/>
            <a:ext cx="7735802" cy="804161"/>
          </a:xfrm>
        </p:spPr>
        <p:txBody>
          <a:bodyPr anchor="ctr">
            <a:normAutofit fontScale="90000"/>
          </a:bodyPr>
          <a:lstStyle/>
          <a:p>
            <a:pPr algn="l"/>
            <a:r>
              <a:rPr lang="en-US" sz="3200" dirty="0"/>
              <a:t>System costs: Slightly higher system costs  for NTC w.r.t FBMC </a:t>
            </a:r>
            <a:endParaRPr lang="nl-NL" sz="3200" dirty="0"/>
          </a:p>
        </p:txBody>
      </p:sp>
    </p:spTree>
    <p:extLst>
      <p:ext uri="{BB962C8B-B14F-4D97-AF65-F5344CB8AC3E}">
        <p14:creationId xmlns:p14="http://schemas.microsoft.com/office/powerpoint/2010/main" val="2000329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5542FF-89B9-C9A6-3E62-0FADC677B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D9AA3C7-EFA5-2E76-FFC3-5B7D14AE73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90224" y="5576632"/>
            <a:ext cx="8422105" cy="1148379"/>
          </a:xfrm>
        </p:spPr>
        <p:txBody>
          <a:bodyPr anchor="ctr">
            <a:normAutofit/>
          </a:bodyPr>
          <a:lstStyle/>
          <a:p>
            <a:r>
              <a:rPr lang="en-US" sz="1800" dirty="0"/>
              <a:t>Greater congestion rent captured in cm-</a:t>
            </a:r>
            <a:r>
              <a:rPr lang="en-US" sz="1800" dirty="0" err="1"/>
              <a:t>fbmc</a:t>
            </a:r>
            <a:r>
              <a:rPr lang="en-US" sz="1800" dirty="0"/>
              <a:t>. The welfare gain does not transfer to consumers but is captured by the network operator, who can then redistribute as they choose.</a:t>
            </a:r>
            <a:endParaRPr lang="nl-NL" sz="18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75B2032-2CC9-E65F-8476-BD91E8E114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5025" y="5193518"/>
            <a:ext cx="12207200" cy="123363"/>
            <a:chOff x="-5025" y="6737718"/>
            <a:chExt cx="12207200" cy="123363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88637CE-7A4E-FD78-3A8F-268CEB23DB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49414F5-CC43-125A-D416-6647688033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986A087C-5D24-49C8-DBBA-DE6C56DD13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897" y="296667"/>
            <a:ext cx="10456421" cy="5150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2088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8BB92-6E55-A158-AA47-74614603F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6C07CA-6E49-3600-4A21-C1B8D090A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496" y="1631886"/>
            <a:ext cx="11113008" cy="359422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Installed capacity differs across zones, with FBMC capturing more trade. The cost implications are small because imports remain a small fraction of total investments.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2218906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55682-9757-C900-9E96-AB181267C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263D0-02C6-22F6-6582-BD6BB51F5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1104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When investment costs of peak unit differ across zones</a:t>
            </a:r>
            <a:endParaRPr lang="nl-NL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A84856-9902-F268-2771-3EE5278F3B80}"/>
              </a:ext>
            </a:extLst>
          </p:cNvPr>
          <p:cNvSpPr txBox="1"/>
          <p:nvPr/>
        </p:nvSpPr>
        <p:spPr>
          <a:xfrm>
            <a:off x="1757934" y="4387335"/>
            <a:ext cx="200939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Zone A: 60k€/MW</a:t>
            </a:r>
          </a:p>
          <a:p>
            <a:r>
              <a:rPr lang="en-US" dirty="0"/>
              <a:t>Zone B: 70k€/MW</a:t>
            </a:r>
          </a:p>
          <a:p>
            <a:r>
              <a:rPr lang="en-US" dirty="0"/>
              <a:t>Zone C: 80k€/MW</a:t>
            </a:r>
          </a:p>
          <a:p>
            <a:endParaRPr lang="nl-NL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77516C-8C54-A47D-5B72-C00BAA823140}"/>
              </a:ext>
            </a:extLst>
          </p:cNvPr>
          <p:cNvSpPr txBox="1"/>
          <p:nvPr/>
        </p:nvSpPr>
        <p:spPr>
          <a:xfrm>
            <a:off x="1757934" y="3787170"/>
            <a:ext cx="52677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Using EOM as baseline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5457287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7097</TotalTime>
  <Words>318</Words>
  <Application>Microsoft Office PowerPoint</Application>
  <PresentationFormat>Widescreen</PresentationFormat>
  <Paragraphs>31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Consolas</vt:lpstr>
      <vt:lpstr>Office Theme</vt:lpstr>
      <vt:lpstr>When investment costs of peak unit differ across zones</vt:lpstr>
      <vt:lpstr>PowerPoint Presentation</vt:lpstr>
      <vt:lpstr>PowerPoint Presentation</vt:lpstr>
      <vt:lpstr>PowerPoint Presentation</vt:lpstr>
      <vt:lpstr>PowerPoint Presentation</vt:lpstr>
      <vt:lpstr>System costs: Slightly higher system costs  for NTC w.r.t FBMC </vt:lpstr>
      <vt:lpstr>PowerPoint Presentation</vt:lpstr>
      <vt:lpstr>Installed capacity differs across zones, with FBMC capturing more trade. The cost implications are small because imports remain a small fraction of total investments.</vt:lpstr>
      <vt:lpstr>When investment costs of peak unit differ across zones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Kamaldeen Adekola</dc:creator>
  <cp:lastModifiedBy>Kamaldeen Adekola</cp:lastModifiedBy>
  <cp:revision>11</cp:revision>
  <dcterms:created xsi:type="dcterms:W3CDTF">2026-01-18T11:39:24Z</dcterms:created>
  <dcterms:modified xsi:type="dcterms:W3CDTF">2026-01-30T15:59:47Z</dcterms:modified>
</cp:coreProperties>
</file>